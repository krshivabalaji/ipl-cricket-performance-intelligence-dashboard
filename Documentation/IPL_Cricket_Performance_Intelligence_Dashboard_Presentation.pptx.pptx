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7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2680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1"/>
          <p:cNvSpPr txBox="1"/>
          <p:nvPr/>
        </p:nvSpPr>
        <p:spPr>
          <a:xfrm>
            <a:off x="731520" y="1463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79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PROJECT</a:t>
            </a:r>
            <a:endParaRPr lang="en-US" sz="1600" dirty="0"/>
          </a:p>
        </p:txBody>
      </p:sp>
      <p:sp>
        <p:nvSpPr>
          <p:cNvPr id="3" name="anim2"/>
          <p:cNvSpPr txBox="1"/>
          <p:nvPr/>
        </p:nvSpPr>
        <p:spPr>
          <a:xfrm>
            <a:off x="731520" y="192024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Cricket Performance Intelligence Dashboard</a:t>
            </a:r>
            <a:endParaRPr lang="en-US" sz="4600" dirty="0"/>
          </a:p>
        </p:txBody>
      </p:sp>
      <p:sp>
        <p:nvSpPr>
          <p:cNvPr id="4" name="anim3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Match, team and player analytics across IPL seasons</a:t>
            </a:r>
            <a:endParaRPr lang="en-US" sz="2000" dirty="0"/>
          </a:p>
        </p:txBody>
      </p:sp>
      <p:sp>
        <p:nvSpPr>
          <p:cNvPr id="5" name="anim4"/>
          <p:cNvSpPr txBox="1"/>
          <p:nvPr/>
        </p:nvSpPr>
        <p:spPr>
          <a:xfrm>
            <a:off x="731520" y="48463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 Shivabalaji K R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Anudip DBA_AI |  01/10/2026</a:t>
            </a:r>
            <a:endParaRPr lang="en-US" sz="2000" dirty="0"/>
          </a:p>
        </p:txBody>
      </p:sp>
      <p:sp>
        <p:nvSpPr>
          <p:cNvPr id="6" name="anim5"/>
          <p:cNvSpPr/>
          <p:nvPr/>
        </p:nvSpPr>
        <p:spPr>
          <a:xfrm>
            <a:off x="8778240" y="1828800"/>
            <a:ext cx="2651760" cy="2651760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 w="38100">
            <a:solidFill>
              <a:srgbClr val="F7941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6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Cricket Performance Intelligence Dashboard</a:t>
            </a:r>
          </a:p>
          <a:p>
            <a:pPr marL="0" indent="0">
              <a:buNone/>
            </a:pPr>
            <a:endParaRPr lang="en-US" sz="1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anim7"/>
          <p:cNvSpPr/>
          <p:nvPr/>
        </p:nvSpPr>
        <p:spPr>
          <a:xfrm>
            <a:off x="548640" y="173736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Project overview</a:t>
            </a:r>
            <a:endParaRPr lang="en-US" sz="18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Goal, tools and scope</a:t>
            </a:r>
            <a:endParaRPr lang="en-US" sz="1800" dirty="0"/>
          </a:p>
        </p:txBody>
      </p:sp>
      <p:sp>
        <p:nvSpPr>
          <p:cNvPr id="6" name="anim8"/>
          <p:cNvSpPr/>
          <p:nvPr/>
        </p:nvSpPr>
        <p:spPr>
          <a:xfrm>
            <a:off x="3337560" y="173736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Data sources</a:t>
            </a:r>
            <a:endParaRPr lang="en-US" sz="18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to XLSX, multiple files</a:t>
            </a:r>
            <a:endParaRPr lang="en-US" sz="1800" dirty="0"/>
          </a:p>
        </p:txBody>
      </p:sp>
      <p:sp>
        <p:nvSpPr>
          <p:cNvPr id="7" name="anim9"/>
          <p:cNvSpPr/>
          <p:nvPr/>
        </p:nvSpPr>
        <p:spPr>
          <a:xfrm>
            <a:off x="6126480" y="173736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New tables</a:t>
            </a:r>
            <a:endParaRPr lang="en-US" sz="18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table from source files</a:t>
            </a:r>
            <a:endParaRPr lang="en-US" sz="1800" dirty="0"/>
          </a:p>
        </p:txBody>
      </p:sp>
      <p:sp>
        <p:nvSpPr>
          <p:cNvPr id="8" name="anim10"/>
          <p:cNvSpPr/>
          <p:nvPr/>
        </p:nvSpPr>
        <p:spPr>
          <a:xfrm>
            <a:off x="8915400" y="173736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Data model</a:t>
            </a:r>
            <a:endParaRPr lang="en-US" sz="18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Relationships and DimSeason</a:t>
            </a:r>
            <a:endParaRPr lang="en-US" sz="1800" dirty="0"/>
          </a:p>
        </p:txBody>
      </p:sp>
      <p:sp>
        <p:nvSpPr>
          <p:cNvPr id="9" name="anim11"/>
          <p:cNvSpPr/>
          <p:nvPr/>
        </p:nvSpPr>
        <p:spPr>
          <a:xfrm>
            <a:off x="548640" y="402336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Report pages</a:t>
            </a:r>
            <a:endParaRPr lang="en-US" sz="18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Overview, Team Analysis, Player Stats</a:t>
            </a:r>
            <a:endParaRPr lang="en-US" sz="1800" dirty="0"/>
          </a:p>
        </p:txBody>
      </p:sp>
      <p:sp>
        <p:nvSpPr>
          <p:cNvPr id="10" name="anim12"/>
          <p:cNvSpPr/>
          <p:nvPr/>
        </p:nvSpPr>
        <p:spPr>
          <a:xfrm>
            <a:off x="3337560" y="402336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DAX</a:t>
            </a:r>
            <a:endParaRPr lang="en-US" sz="18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used and why</a:t>
            </a:r>
            <a:endParaRPr lang="en-US" sz="1800" dirty="0"/>
          </a:p>
        </p:txBody>
      </p:sp>
      <p:sp>
        <p:nvSpPr>
          <p:cNvPr id="11" name="anim13"/>
          <p:cNvSpPr/>
          <p:nvPr/>
        </p:nvSpPr>
        <p:spPr>
          <a:xfrm>
            <a:off x="6126480" y="402336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Image URLs</a:t>
            </a:r>
            <a:endParaRPr lang="en-US" sz="18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pasted in Excel</a:t>
            </a:r>
            <a:endParaRPr lang="en-US" sz="1800" dirty="0"/>
          </a:p>
        </p:txBody>
      </p:sp>
      <p:sp>
        <p:nvSpPr>
          <p:cNvPr id="12" name="anim14"/>
          <p:cNvSpPr/>
          <p:nvPr/>
        </p:nvSpPr>
        <p:spPr>
          <a:xfrm>
            <a:off x="8915400" y="402336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UI and interactivity</a:t>
            </a:r>
            <a:endParaRPr lang="en-US" sz="18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Theme, slicers, bookmarks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15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Cricket Performance Intelligence Dashboard</a:t>
            </a:r>
          </a:p>
        </p:txBody>
      </p:sp>
      <p:sp>
        <p:nvSpPr>
          <p:cNvPr id="5" name="anim16"/>
          <p:cNvSpPr/>
          <p:nvPr/>
        </p:nvSpPr>
        <p:spPr>
          <a:xfrm>
            <a:off x="548640" y="15544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79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pages</a:t>
            </a:r>
            <a:endParaRPr lang="en-US" sz="4400" dirty="0"/>
          </a:p>
        </p:txBody>
      </p:sp>
      <p:sp>
        <p:nvSpPr>
          <p:cNvPr id="6" name="anim17"/>
          <p:cNvSpPr/>
          <p:nvPr/>
        </p:nvSpPr>
        <p:spPr>
          <a:xfrm>
            <a:off x="3337560" y="15544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79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in the model</a:t>
            </a:r>
            <a:endParaRPr lang="en-US" sz="4400" dirty="0"/>
          </a:p>
        </p:txBody>
      </p:sp>
      <p:sp>
        <p:nvSpPr>
          <p:cNvPr id="7" name="anim18"/>
          <p:cNvSpPr/>
          <p:nvPr/>
        </p:nvSpPr>
        <p:spPr>
          <a:xfrm>
            <a:off x="6126480" y="15544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79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</a:t>
            </a:r>
            <a:endParaRPr lang="en-US" sz="4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files linked</a:t>
            </a:r>
            <a:endParaRPr lang="en-US" sz="4400" dirty="0"/>
          </a:p>
        </p:txBody>
      </p:sp>
      <p:sp>
        <p:nvSpPr>
          <p:cNvPr id="8" name="anim19"/>
          <p:cNvSpPr/>
          <p:nvPr/>
        </p:nvSpPr>
        <p:spPr>
          <a:xfrm>
            <a:off x="8915400" y="15544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79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Reset-filter bookmarks</a:t>
            </a:r>
            <a:endParaRPr lang="en-US" sz="4400" dirty="0"/>
          </a:p>
        </p:txBody>
      </p:sp>
      <p:sp>
        <p:nvSpPr>
          <p:cNvPr id="9" name="anim20"/>
          <p:cNvSpPr/>
          <p:nvPr/>
        </p:nvSpPr>
        <p:spPr>
          <a:xfrm>
            <a:off x="548640" y="342900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600" dirty="0"/>
          </a:p>
          <a:p>
            <a:pPr>
              <a:lnSpc>
                <a:spcPct val="150000"/>
              </a:lnSpc>
              <a:spcAft>
                <a:spcPts val="300"/>
              </a:spcAft>
              <a:buSzPct val="100000"/>
            </a:pP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develop an interactive IPL Cricket Performance Intelligence Dashboard using Power BI, Excel, and DAX to transform multiple IPL datasets into meaningful insights on matches, team performance, player achievements, and season-wise championship statistics.</a:t>
            </a:r>
          </a:p>
        </p:txBody>
      </p:sp>
      <p:sp>
        <p:nvSpPr>
          <p:cNvPr id="10" name="anim21"/>
          <p:cNvSpPr/>
          <p:nvPr/>
        </p:nvSpPr>
        <p:spPr>
          <a:xfrm>
            <a:off x="6263640" y="342900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and skills used</a:t>
            </a:r>
            <a:endParaRPr lang="en-US" sz="1600" dirty="0"/>
          </a:p>
          <a:p>
            <a:pPr marL="342900" indent="-3429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Power BI Desktop: model, DAX, report design</a:t>
            </a:r>
            <a:endParaRPr lang="en-US" sz="140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Excel: source data (CSV files converted to XLSX)</a:t>
            </a:r>
            <a:endParaRPr lang="en-US" sz="140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DAX measures and new tables</a:t>
            </a:r>
            <a:endParaRPr lang="en-US" sz="140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Adding image URLs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22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 and preparation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Cricket Performance Intelligence Dashboard</a:t>
            </a:r>
          </a:p>
        </p:txBody>
      </p:sp>
      <p:sp>
        <p:nvSpPr>
          <p:cNvPr id="5" name="anim23"/>
          <p:cNvSpPr/>
          <p:nvPr/>
        </p:nvSpPr>
        <p:spPr>
          <a:xfrm>
            <a:off x="548640" y="15544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0B1F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files</a:t>
            </a:r>
            <a:endParaRPr lang="en-US" sz="1300" dirty="0"/>
          </a:p>
        </p:txBody>
      </p:sp>
      <p:sp>
        <p:nvSpPr>
          <p:cNvPr id="6" name="anim24"/>
          <p:cNvSpPr/>
          <p:nvPr/>
        </p:nvSpPr>
        <p:spPr>
          <a:xfrm>
            <a:off x="2496312" y="1883664"/>
            <a:ext cx="256032" cy="256032"/>
          </a:xfrm>
          <a:prstGeom prst="rightArrow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7" name="anim25"/>
          <p:cNvSpPr/>
          <p:nvPr/>
        </p:nvSpPr>
        <p:spPr>
          <a:xfrm>
            <a:off x="2788920" y="15544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0B1F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to XLSX</a:t>
            </a:r>
            <a:endParaRPr lang="en-US" sz="1300" dirty="0"/>
          </a:p>
        </p:txBody>
      </p:sp>
      <p:sp>
        <p:nvSpPr>
          <p:cNvPr id="8" name="anim26"/>
          <p:cNvSpPr/>
          <p:nvPr/>
        </p:nvSpPr>
        <p:spPr>
          <a:xfrm>
            <a:off x="4736592" y="1883664"/>
            <a:ext cx="256032" cy="256032"/>
          </a:xfrm>
          <a:prstGeom prst="rightArrow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9" name="anim27"/>
          <p:cNvSpPr/>
          <p:nvPr/>
        </p:nvSpPr>
        <p:spPr>
          <a:xfrm>
            <a:off x="5029200" y="15544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0B1F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into Power BI</a:t>
            </a:r>
            <a:endParaRPr lang="en-US" sz="1300" dirty="0"/>
          </a:p>
        </p:txBody>
      </p:sp>
      <p:sp>
        <p:nvSpPr>
          <p:cNvPr id="10" name="anim28"/>
          <p:cNvSpPr/>
          <p:nvPr/>
        </p:nvSpPr>
        <p:spPr>
          <a:xfrm>
            <a:off x="6976872" y="1883664"/>
            <a:ext cx="256032" cy="256032"/>
          </a:xfrm>
          <a:prstGeom prst="rightArrow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1" name="anim29"/>
          <p:cNvSpPr/>
          <p:nvPr/>
        </p:nvSpPr>
        <p:spPr>
          <a:xfrm>
            <a:off x="7269480" y="15544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7941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</a:t>
            </a:r>
            <a:endParaRPr lang="en-US" sz="1300" dirty="0"/>
          </a:p>
        </p:txBody>
      </p:sp>
      <p:sp>
        <p:nvSpPr>
          <p:cNvPr id="12" name="anim30"/>
          <p:cNvSpPr/>
          <p:nvPr/>
        </p:nvSpPr>
        <p:spPr>
          <a:xfrm>
            <a:off x="9217152" y="1883664"/>
            <a:ext cx="256032" cy="256032"/>
          </a:xfrm>
          <a:prstGeom prst="rightArrow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3" name="anim31"/>
          <p:cNvSpPr/>
          <p:nvPr/>
        </p:nvSpPr>
        <p:spPr>
          <a:xfrm>
            <a:off x="9509760" y="15544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0B1F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pages</a:t>
            </a:r>
            <a:endParaRPr lang="en-US" sz="1300" dirty="0"/>
          </a:p>
        </p:txBody>
      </p:sp>
      <p:sp>
        <p:nvSpPr>
          <p:cNvPr id="14" name="anim32"/>
          <p:cNvSpPr/>
          <p:nvPr/>
        </p:nvSpPr>
        <p:spPr>
          <a:xfrm>
            <a:off x="548640" y="2834640"/>
            <a:ext cx="457200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loaded</a:t>
            </a:r>
            <a:endParaRPr lang="en-US" sz="1600" dirty="0"/>
          </a:p>
          <a:p>
            <a:pPr marL="342900" indent="-3429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</a:t>
            </a:r>
            <a:endParaRPr lang="en-US" sz="1600" dirty="0"/>
          </a:p>
          <a:p>
            <a:pPr marL="342900" indent="-3429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(created from source files)</a:t>
            </a:r>
            <a:endParaRPr lang="en-US" sz="1600" dirty="0"/>
          </a:p>
          <a:p>
            <a:pPr marL="342900" indent="-3429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TeamPerformance</a:t>
            </a:r>
            <a:endParaRPr lang="en-US" sz="1600" dirty="0"/>
          </a:p>
          <a:p>
            <a:pPr marL="342900" indent="-3429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DimSeason</a:t>
            </a:r>
            <a:endParaRPr lang="en-US" sz="1600" dirty="0"/>
          </a:p>
          <a:p>
            <a:pPr marL="342900" indent="-3429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Winners &amp; Runners List</a:t>
            </a:r>
            <a:endParaRPr lang="en-US" sz="1600" dirty="0"/>
          </a:p>
          <a:p>
            <a:pPr marL="342900" indent="-3429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Titles Won in IPL</a:t>
            </a:r>
            <a:endParaRPr lang="en-US" sz="1600" dirty="0"/>
          </a:p>
          <a:p>
            <a:pPr marL="342900" indent="-3429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Orange Cap Winners History</a:t>
            </a:r>
            <a:endParaRPr lang="en-US" sz="1600" dirty="0"/>
          </a:p>
          <a:p>
            <a:pPr marL="342900" indent="-3429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Purple Cap Winners History</a:t>
            </a:r>
            <a:endParaRPr lang="en-US" sz="1600" dirty="0"/>
          </a:p>
        </p:txBody>
      </p:sp>
      <p:sp>
        <p:nvSpPr>
          <p:cNvPr id="15" name="anim33"/>
          <p:cNvSpPr/>
          <p:nvPr/>
        </p:nvSpPr>
        <p:spPr>
          <a:xfrm>
            <a:off x="5394960" y="2834640"/>
            <a:ext cx="6263640" cy="3337560"/>
          </a:xfrm>
          <a:prstGeom prst="roundRect">
            <a:avLst>
              <a:gd name="adj" fmla="val 2740"/>
            </a:avLst>
          </a:prstGeom>
          <a:solidFill>
            <a:srgbClr val="E8ECF6"/>
          </a:solidFill>
          <a:ln w="19050">
            <a:solidFill>
              <a:srgbClr val="F7941D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DDF7E4F-4BC2-4707-9E21-F7E836E71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0871" y="3063239"/>
            <a:ext cx="5821092" cy="2862073"/>
          </a:xfrm>
          <a:prstGeom prst="rect">
            <a:avLst/>
          </a:prstGeom>
          <a:ln>
            <a:solidFill>
              <a:schemeClr val="tx1"/>
            </a:solidFill>
            <a:prstDash val="solid"/>
          </a:ln>
          <a:effectLst>
            <a:softEdge rad="762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34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new tables from source files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Cricket Performance Intelligence Dashboard</a:t>
            </a:r>
          </a:p>
        </p:txBody>
      </p:sp>
      <p:sp>
        <p:nvSpPr>
          <p:cNvPr id="5" name="anim35"/>
          <p:cNvSpPr/>
          <p:nvPr/>
        </p:nvSpPr>
        <p:spPr>
          <a:xfrm>
            <a:off x="548640" y="1554480"/>
            <a:ext cx="484632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was built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Source files used: Matches records 2008 to 2026, Team wise home and away match results, Player performance and awards data sets</a:t>
            </a:r>
            <a:br>
              <a:rPr lang="en-US" sz="13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</a:br>
            <a:endParaRPr lang="en-US" sz="130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Steps in Power Query / DAX: </a:t>
            </a: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Cleaned and transformed source data, standardized team/season values, created relationships, and developed dynamic KPI measures using DAX.</a:t>
            </a:r>
            <a:br>
              <a:rPr lang="en-US" sz="13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30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Columns created: Team, Short_Name, State, Home_City, Trophy_Winner</a:t>
            </a:r>
            <a:br>
              <a:rPr lang="en-US" sz="13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</a:br>
            <a:endParaRPr lang="en-US" sz="130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Why: </a:t>
            </a: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Created a standardized team reference list to support team filtering, state-based mapping, consistent naming, and dashboard analysis.</a:t>
            </a:r>
          </a:p>
        </p:txBody>
      </p:sp>
      <p:sp>
        <p:nvSpPr>
          <p:cNvPr id="7" name="anim37"/>
          <p:cNvSpPr/>
          <p:nvPr/>
        </p:nvSpPr>
        <p:spPr>
          <a:xfrm>
            <a:off x="5715000" y="1591056"/>
            <a:ext cx="5989320" cy="4553712"/>
          </a:xfrm>
          <a:prstGeom prst="roundRect">
            <a:avLst>
              <a:gd name="adj" fmla="val 4651"/>
            </a:avLst>
          </a:prstGeom>
          <a:solidFill>
            <a:srgbClr val="E8ECF6"/>
          </a:solidFill>
          <a:ln w="19050">
            <a:solidFill>
              <a:srgbClr val="F7941D"/>
            </a:solidFill>
            <a:prstDash val="dash"/>
          </a:ln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400" b="1" dirty="0">
                <a:solidFill>
                  <a:srgbClr val="F79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table (Power Query / DAX)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D58367-7AD7-4B18-91CA-1D72CDF028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767"/>
          <a:stretch/>
        </p:blipFill>
        <p:spPr>
          <a:xfrm>
            <a:off x="5967478" y="2166425"/>
            <a:ext cx="5455489" cy="3711584"/>
          </a:xfrm>
          <a:prstGeom prst="rect">
            <a:avLst/>
          </a:prstGeom>
          <a:effectLst>
            <a:outerShdw blurRad="63500" dist="38100" dir="2700000" sx="101000" sy="101000" algn="tl" rotWithShape="0">
              <a:prstClr val="black">
                <a:alpha val="20000"/>
              </a:prstClr>
            </a:outerShdw>
            <a:softEdge rad="25400"/>
          </a:effec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38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 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tables are connected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Cricket Performance Intelligence Dashboard</a:t>
            </a:r>
          </a:p>
        </p:txBody>
      </p:sp>
      <p:sp>
        <p:nvSpPr>
          <p:cNvPr id="5" name="anim39"/>
          <p:cNvSpPr/>
          <p:nvPr/>
        </p:nvSpPr>
        <p:spPr>
          <a:xfrm>
            <a:off x="4709160" y="292608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F7941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DimSeason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</a:t>
            </a:r>
            <a:endParaRPr lang="en-US" sz="1300" dirty="0"/>
          </a:p>
        </p:txBody>
      </p:sp>
      <p:sp>
        <p:nvSpPr>
          <p:cNvPr id="6" name="anim40"/>
          <p:cNvSpPr/>
          <p:nvPr/>
        </p:nvSpPr>
        <p:spPr>
          <a:xfrm>
            <a:off x="548640" y="146304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0B1F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</a:t>
            </a:r>
            <a:endParaRPr lang="en-US" sz="1300" dirty="0"/>
          </a:p>
        </p:txBody>
      </p:sp>
      <p:sp>
        <p:nvSpPr>
          <p:cNvPr id="7" name="anim41"/>
          <p:cNvSpPr/>
          <p:nvPr/>
        </p:nvSpPr>
        <p:spPr>
          <a:xfrm>
            <a:off x="548638" y="2931653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0B1F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</a:t>
            </a:r>
            <a:endParaRPr lang="en-US" sz="1300" dirty="0"/>
          </a:p>
        </p:txBody>
      </p:sp>
      <p:sp>
        <p:nvSpPr>
          <p:cNvPr id="8" name="anim42"/>
          <p:cNvSpPr/>
          <p:nvPr/>
        </p:nvSpPr>
        <p:spPr>
          <a:xfrm>
            <a:off x="548640" y="438912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0B1F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Performance</a:t>
            </a:r>
            <a:endParaRPr lang="en-US" sz="1300" dirty="0"/>
          </a:p>
        </p:txBody>
      </p:sp>
      <p:sp>
        <p:nvSpPr>
          <p:cNvPr id="9" name="anim43"/>
          <p:cNvSpPr/>
          <p:nvPr/>
        </p:nvSpPr>
        <p:spPr>
          <a:xfrm>
            <a:off x="8686800" y="1463040"/>
            <a:ext cx="2926080" cy="731520"/>
          </a:xfrm>
          <a:prstGeom prst="roundRect">
            <a:avLst>
              <a:gd name="adj" fmla="val 10000"/>
            </a:avLst>
          </a:prstGeom>
          <a:solidFill>
            <a:srgbClr val="0B1F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ORANGE CAP WINNERS HISTORY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 &gt; Season</a:t>
            </a:r>
            <a:endParaRPr lang="en-US" sz="1300" dirty="0"/>
          </a:p>
        </p:txBody>
      </p:sp>
      <p:sp>
        <p:nvSpPr>
          <p:cNvPr id="10" name="anim44"/>
          <p:cNvSpPr/>
          <p:nvPr/>
        </p:nvSpPr>
        <p:spPr>
          <a:xfrm>
            <a:off x="8686800" y="2926080"/>
            <a:ext cx="2926080" cy="731520"/>
          </a:xfrm>
          <a:prstGeom prst="roundRect">
            <a:avLst>
              <a:gd name="adj" fmla="val 10000"/>
            </a:avLst>
          </a:prstGeom>
          <a:solidFill>
            <a:srgbClr val="0B1F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PURPLE CAP WINNERS HISTORY</a:t>
            </a:r>
            <a:endParaRPr lang="en-US" sz="1300" dirty="0"/>
          </a:p>
          <a:p>
            <a:pPr algn="ctr"/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 &gt; Season</a:t>
            </a:r>
            <a:endParaRPr lang="en-US" sz="1300" dirty="0"/>
          </a:p>
        </p:txBody>
      </p:sp>
      <p:sp>
        <p:nvSpPr>
          <p:cNvPr id="11" name="anim45"/>
          <p:cNvSpPr/>
          <p:nvPr/>
        </p:nvSpPr>
        <p:spPr>
          <a:xfrm>
            <a:off x="8686800" y="4389120"/>
            <a:ext cx="2926080" cy="731520"/>
          </a:xfrm>
          <a:prstGeom prst="roundRect">
            <a:avLst>
              <a:gd name="adj" fmla="val 10000"/>
            </a:avLst>
          </a:prstGeom>
          <a:solidFill>
            <a:srgbClr val="0B1F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WINNERS &amp; RUNNERS LIST</a:t>
            </a:r>
            <a:endParaRPr lang="en-US" sz="1300" dirty="0"/>
          </a:p>
          <a:p>
            <a:pPr algn="ctr"/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 &gt; Season</a:t>
            </a:r>
            <a:endParaRPr lang="en-US" sz="1300" dirty="0"/>
          </a:p>
        </p:txBody>
      </p:sp>
      <p:sp>
        <p:nvSpPr>
          <p:cNvPr id="12" name="anim46"/>
          <p:cNvSpPr/>
          <p:nvPr/>
        </p:nvSpPr>
        <p:spPr>
          <a:xfrm>
            <a:off x="7452360" y="3291840"/>
            <a:ext cx="640080" cy="0"/>
          </a:xfrm>
          <a:prstGeom prst="line">
            <a:avLst/>
          </a:prstGeom>
          <a:noFill/>
          <a:ln w="31750">
            <a:solidFill>
              <a:srgbClr val="F7941D"/>
            </a:solidFill>
            <a:prstDash val="solid"/>
          </a:ln>
        </p:spPr>
      </p:sp>
      <p:sp>
        <p:nvSpPr>
          <p:cNvPr id="13" name="anim47"/>
          <p:cNvSpPr/>
          <p:nvPr/>
        </p:nvSpPr>
        <p:spPr>
          <a:xfrm>
            <a:off x="8092440" y="1828800"/>
            <a:ext cx="0" cy="2926080"/>
          </a:xfrm>
          <a:prstGeom prst="line">
            <a:avLst/>
          </a:prstGeom>
          <a:noFill/>
          <a:ln w="31750">
            <a:solidFill>
              <a:srgbClr val="F7941D"/>
            </a:solidFill>
            <a:prstDash val="solid"/>
          </a:ln>
        </p:spPr>
      </p:sp>
      <p:sp>
        <p:nvSpPr>
          <p:cNvPr id="14" name="anim48"/>
          <p:cNvSpPr/>
          <p:nvPr/>
        </p:nvSpPr>
        <p:spPr>
          <a:xfrm>
            <a:off x="8092440" y="1828800"/>
            <a:ext cx="594360" cy="0"/>
          </a:xfrm>
          <a:prstGeom prst="line">
            <a:avLst/>
          </a:prstGeom>
          <a:noFill/>
          <a:ln w="31750">
            <a:solidFill>
              <a:srgbClr val="F7941D"/>
            </a:solidFill>
            <a:prstDash val="solid"/>
          </a:ln>
        </p:spPr>
      </p:sp>
      <p:sp>
        <p:nvSpPr>
          <p:cNvPr id="15" name="anim49"/>
          <p:cNvSpPr/>
          <p:nvPr/>
        </p:nvSpPr>
        <p:spPr>
          <a:xfrm>
            <a:off x="8092440" y="3291840"/>
            <a:ext cx="594360" cy="0"/>
          </a:xfrm>
          <a:prstGeom prst="line">
            <a:avLst/>
          </a:prstGeom>
          <a:noFill/>
          <a:ln w="31750">
            <a:solidFill>
              <a:srgbClr val="F7941D"/>
            </a:solidFill>
            <a:prstDash val="solid"/>
          </a:ln>
        </p:spPr>
      </p:sp>
      <p:sp>
        <p:nvSpPr>
          <p:cNvPr id="16" name="anim50"/>
          <p:cNvSpPr/>
          <p:nvPr/>
        </p:nvSpPr>
        <p:spPr>
          <a:xfrm>
            <a:off x="8092440" y="4754880"/>
            <a:ext cx="594360" cy="0"/>
          </a:xfrm>
          <a:prstGeom prst="line">
            <a:avLst/>
          </a:prstGeom>
          <a:noFill/>
          <a:ln w="31750">
            <a:solidFill>
              <a:srgbClr val="F7941D"/>
            </a:solidFill>
            <a:prstDash val="solid"/>
          </a:ln>
        </p:spPr>
      </p:sp>
      <p:sp>
        <p:nvSpPr>
          <p:cNvPr id="17" name="anim51"/>
          <p:cNvSpPr/>
          <p:nvPr/>
        </p:nvSpPr>
        <p:spPr>
          <a:xfrm flipH="1">
            <a:off x="1920237" y="3657599"/>
            <a:ext cx="2" cy="713931"/>
          </a:xfrm>
          <a:prstGeom prst="line">
            <a:avLst/>
          </a:prstGeom>
          <a:noFill/>
          <a:ln w="31750">
            <a:solidFill>
              <a:srgbClr val="8A94B0"/>
            </a:solidFill>
            <a:prstDash val="dash"/>
          </a:ln>
        </p:spPr>
      </p:sp>
      <p:sp>
        <p:nvSpPr>
          <p:cNvPr id="18" name="anim52"/>
          <p:cNvSpPr/>
          <p:nvPr/>
        </p:nvSpPr>
        <p:spPr>
          <a:xfrm flipH="1">
            <a:off x="1920240" y="5120637"/>
            <a:ext cx="0" cy="256733"/>
          </a:xfrm>
          <a:prstGeom prst="line">
            <a:avLst/>
          </a:prstGeom>
          <a:noFill/>
          <a:ln w="31750">
            <a:solidFill>
              <a:srgbClr val="8A94B0"/>
            </a:solidFill>
            <a:prstDash val="dash"/>
          </a:ln>
        </p:spPr>
      </p:sp>
      <p:sp>
        <p:nvSpPr>
          <p:cNvPr id="19" name="anim53"/>
          <p:cNvSpPr/>
          <p:nvPr/>
        </p:nvSpPr>
        <p:spPr>
          <a:xfrm flipV="1">
            <a:off x="1920240" y="5349239"/>
            <a:ext cx="2743196" cy="28131"/>
          </a:xfrm>
          <a:prstGeom prst="line">
            <a:avLst/>
          </a:prstGeom>
          <a:noFill/>
          <a:ln w="31750">
            <a:solidFill>
              <a:srgbClr val="8A94B0"/>
            </a:solidFill>
            <a:prstDash val="dash"/>
          </a:ln>
        </p:spPr>
      </p:sp>
      <p:sp>
        <p:nvSpPr>
          <p:cNvPr id="21" name="anim55"/>
          <p:cNvSpPr/>
          <p:nvPr/>
        </p:nvSpPr>
        <p:spPr>
          <a:xfrm flipH="1">
            <a:off x="1920237" y="2194559"/>
            <a:ext cx="3" cy="737093"/>
          </a:xfrm>
          <a:prstGeom prst="line">
            <a:avLst/>
          </a:prstGeom>
          <a:noFill/>
          <a:ln w="31750">
            <a:solidFill>
              <a:srgbClr val="8A94B0"/>
            </a:solidFill>
            <a:prstDash val="dash"/>
          </a:ln>
        </p:spPr>
      </p:sp>
      <p:sp>
        <p:nvSpPr>
          <p:cNvPr id="22" name="anim56"/>
          <p:cNvSpPr/>
          <p:nvPr/>
        </p:nvSpPr>
        <p:spPr>
          <a:xfrm>
            <a:off x="4709160" y="502920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0B1F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Titles Won in IPL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57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Relationships and the season slicer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in Model view, then used in slicers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Cricket Performance Intelligence Dashboard</a:t>
            </a: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703404"/>
              </p:ext>
            </p:extLst>
          </p:nvPr>
        </p:nvGraphicFramePr>
        <p:xfrm>
          <a:off x="548640" y="1554480"/>
          <a:ext cx="6450037" cy="2487169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3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0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7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23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From (many)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 (one)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Filter direction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5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IPL ORANGE CAP WINNERS HISTORY[season]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DimSeason[Season]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Many to 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5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IPL PURPLE CAP WINNERS HISTORY[season]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DimSeason[Season]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Many to 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15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IPL Winners &amp; Runners List[season]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DimSeason[Season]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Many to 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anim59"/>
          <p:cNvSpPr/>
          <p:nvPr/>
        </p:nvSpPr>
        <p:spPr>
          <a:xfrm>
            <a:off x="7090116" y="3071337"/>
            <a:ext cx="4568483" cy="3100863"/>
          </a:xfrm>
          <a:prstGeom prst="roundRect">
            <a:avLst>
              <a:gd name="adj" fmla="val 5714"/>
            </a:avLst>
          </a:prstGeom>
          <a:solidFill>
            <a:srgbClr val="E8ECF6"/>
          </a:solidFill>
          <a:ln w="19050">
            <a:solidFill>
              <a:srgbClr val="F7941D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8BFD70-A270-4509-90E4-BE284ED9F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0989" y="3318224"/>
            <a:ext cx="4206736" cy="2607088"/>
          </a:xfrm>
          <a:prstGeom prst="rect">
            <a:avLst/>
          </a:prstGeom>
          <a:effectLst>
            <a:softEdge rad="63500"/>
          </a:effectLst>
        </p:spPr>
      </p:pic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60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1: Overview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at a glance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Cricket Performance Intelligence Dashboard</a:t>
            </a:r>
          </a:p>
        </p:txBody>
      </p:sp>
      <p:sp>
        <p:nvSpPr>
          <p:cNvPr id="6" name="anim62"/>
          <p:cNvSpPr/>
          <p:nvPr/>
        </p:nvSpPr>
        <p:spPr>
          <a:xfrm>
            <a:off x="7772400" y="1463040"/>
            <a:ext cx="3886200" cy="475488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on this page</a:t>
            </a:r>
            <a:endParaRPr lang="en-US" sz="1600" dirty="0"/>
          </a:p>
          <a:p>
            <a:pPr marL="342900" indent="-3429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KPI cards: Total Matches, Seasons, Venues, Cities, Super Over Matches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Area chart: Matches by season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Clustered bar: Teams by wins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Donut: Toss decision</a:t>
            </a:r>
          </a:p>
          <a:p>
            <a:pPr marL="342900" indent="-342900">
              <a:lnSpc>
                <a:spcPct val="150000"/>
              </a:lnSpc>
              <a:spcAft>
                <a:spcPts val="300"/>
              </a:spcAft>
              <a:buSzPct val="100000"/>
              <a:buFontTx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Column chart: Matches by venue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Slicers: Season, City, Match type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Page navigator and Reset Filters button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F5317E-E687-44E1-9C70-49F37962A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69" y="1865376"/>
            <a:ext cx="6870582" cy="3949362"/>
          </a:xfrm>
          <a:prstGeom prst="rect">
            <a:avLst/>
          </a:prstGeom>
          <a:effectLst>
            <a:outerShdw blurRad="63500" dist="38100" dir="2700000" algn="tl" rotWithShape="0">
              <a:prstClr val="black">
                <a:alpha val="20000"/>
              </a:prstClr>
            </a:outerShdw>
            <a:softEdge rad="63500"/>
          </a:effec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63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2: Team Analysis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vs away strength and trophies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Cricket Performance Intelligence Dashboard</a:t>
            </a:r>
          </a:p>
        </p:txBody>
      </p:sp>
      <p:sp>
        <p:nvSpPr>
          <p:cNvPr id="6" name="anim65"/>
          <p:cNvSpPr/>
          <p:nvPr/>
        </p:nvSpPr>
        <p:spPr>
          <a:xfrm>
            <a:off x="7772400" y="1463040"/>
            <a:ext cx="3886200" cy="475488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on this page</a:t>
            </a:r>
            <a:endParaRPr lang="en-US" sz="1600" dirty="0"/>
          </a:p>
          <a:p>
            <a:pPr marL="342900" indent="-3429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KPI cards: Total Teams, Home Wins, Away Wins, Avg Home Win %, Avg Away Win %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Clustered column: Home vs Away Win % by team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Column chart: trophy winners by team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Filled map by state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Slicers: season, team, state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Reset Filters button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135E7B-5F62-4301-954C-9DA7C00EF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48" y="1898725"/>
            <a:ext cx="6780224" cy="3883510"/>
          </a:xfrm>
          <a:prstGeom prst="rect">
            <a:avLst/>
          </a:prstGeom>
          <a:effectLst>
            <a:outerShdw blurRad="76200" dist="38100" dir="2700000" algn="tl" rotWithShape="0">
              <a:prstClr val="black">
                <a:alpha val="20000"/>
              </a:prstClr>
            </a:outerShdw>
            <a:softEdge rad="63500"/>
          </a:effec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66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3: Player Stats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Cap, Purple Cap and finals by season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Cricket Performance Intelligence Dashboard</a:t>
            </a:r>
          </a:p>
        </p:txBody>
      </p:sp>
      <p:sp>
        <p:nvSpPr>
          <p:cNvPr id="6" name="anim68"/>
          <p:cNvSpPr/>
          <p:nvPr/>
        </p:nvSpPr>
        <p:spPr>
          <a:xfrm>
            <a:off x="7772400" y="1463040"/>
            <a:ext cx="3886200" cy="475488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on this page</a:t>
            </a:r>
            <a:endParaRPr lang="en-US" sz="1600" dirty="0"/>
          </a:p>
          <a:p>
            <a:pPr marL="342900" indent="-3429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Orange Cap panel: player, team, runs, average, strike rate, highest score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Purple Cap panel: player, team, wickets, economy, average, matches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Final panel: champion, runner, venue, winning cap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Final Man of the Match and performance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Player of Tournament and MVP team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Season slicer drives every panel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Player and team images load from URLs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837871-380A-4F13-8C74-DFE07784F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49712"/>
            <a:ext cx="6949440" cy="3981536"/>
          </a:xfrm>
          <a:prstGeom prst="rect">
            <a:avLst/>
          </a:prstGeom>
          <a:effectLst>
            <a:outerShdw blurRad="63500" dist="38100" dir="2700000" algn="tl" rotWithShape="0">
              <a:prstClr val="black">
                <a:alpha val="20000"/>
              </a:prstClr>
            </a:outerShdw>
            <a:softEdge rad="63500"/>
          </a:effectLst>
        </p:spPr>
      </p:pic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69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DAX used in the project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grouped by table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Cricket Performance Intelligence Dashboard</a:t>
            </a:r>
          </a:p>
        </p:txBody>
      </p:sp>
      <p:sp>
        <p:nvSpPr>
          <p:cNvPr id="5" name="anim70"/>
          <p:cNvSpPr/>
          <p:nvPr/>
        </p:nvSpPr>
        <p:spPr>
          <a:xfrm>
            <a:off x="548640" y="1301262"/>
            <a:ext cx="3566160" cy="2553286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Matches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Seasons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Venues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Cities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Over Matches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Wins</a:t>
            </a:r>
            <a:endParaRPr lang="en-US" sz="1600" dirty="0"/>
          </a:p>
        </p:txBody>
      </p:sp>
      <p:sp>
        <p:nvSpPr>
          <p:cNvPr id="6" name="anim71"/>
          <p:cNvSpPr/>
          <p:nvPr/>
        </p:nvSpPr>
        <p:spPr>
          <a:xfrm>
            <a:off x="4297680" y="1301262"/>
            <a:ext cx="3566160" cy="2553286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Performance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Teams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Home Wins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Away Wins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Win %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Away Win %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Home Win %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Away Win %</a:t>
            </a:r>
            <a:endParaRPr lang="en-US" sz="1600" dirty="0"/>
          </a:p>
        </p:txBody>
      </p:sp>
      <p:sp>
        <p:nvSpPr>
          <p:cNvPr id="7" name="anim72"/>
          <p:cNvSpPr/>
          <p:nvPr/>
        </p:nvSpPr>
        <p:spPr>
          <a:xfrm>
            <a:off x="8046720" y="1301262"/>
            <a:ext cx="3611880" cy="2553286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Stats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Orange Cap: Player, Team, Runs, Average, Strike Rate, Highest Score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Purple Cap: Player, Team, Wickets, Economy, Average, Matches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Finals: Champion, Runner, Venue, Winning Captain, Man of the Match, Selected Season, MOM Performance</a:t>
            </a:r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Performance, Player of Tournament, Winner Team 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9" name="anim73">
            <a:extLst>
              <a:ext uri="{FF2B5EF4-FFF2-40B4-BE49-F238E27FC236}">
                <a16:creationId xmlns:a16="http://schemas.microsoft.com/office/drawing/2014/main" id="{8DD7BBF4-266E-4FB1-9DB5-30F3B54BB267}"/>
              </a:ext>
            </a:extLst>
          </p:cNvPr>
          <p:cNvSpPr txBox="1"/>
          <p:nvPr/>
        </p:nvSpPr>
        <p:spPr>
          <a:xfrm>
            <a:off x="533400" y="3995224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DAX examples</a:t>
            </a:r>
            <a:endParaRPr lang="en-US" sz="3000" dirty="0"/>
          </a:p>
        </p:txBody>
      </p:sp>
      <p:sp>
        <p:nvSpPr>
          <p:cNvPr id="10" name="anim74">
            <a:extLst>
              <a:ext uri="{FF2B5EF4-FFF2-40B4-BE49-F238E27FC236}">
                <a16:creationId xmlns:a16="http://schemas.microsoft.com/office/drawing/2014/main" id="{B1E265B8-793F-444F-A6CA-6A2969D09510}"/>
              </a:ext>
            </a:extLst>
          </p:cNvPr>
          <p:cNvSpPr/>
          <p:nvPr/>
        </p:nvSpPr>
        <p:spPr>
          <a:xfrm>
            <a:off x="533400" y="4642335"/>
            <a:ext cx="3566160" cy="1282977"/>
          </a:xfrm>
          <a:prstGeom prst="roundRect">
            <a:avLst>
              <a:gd name="adj" fmla="val 1765"/>
            </a:avLst>
          </a:prstGeom>
          <a:solidFill>
            <a:srgbClr val="0F1B3D"/>
          </a:solidFill>
          <a:ln/>
        </p:spPr>
        <p:txBody>
          <a:bodyPr wrap="square" lIns="177800" tIns="177800" rIns="177800" bIns="17780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79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Matches  (Matches)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latin typeface="Arial Rounded MT Bold" panose="020F0704030504030204" pitchFamily="34" charset="0"/>
                <a:cs typeface="Courier New" panose="02070309020205020404" pitchFamily="49" charset="0"/>
              </a:rPr>
              <a:t>Total Matches = COUNT(Matches[id])</a:t>
            </a:r>
          </a:p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11" name="anim75">
            <a:extLst>
              <a:ext uri="{FF2B5EF4-FFF2-40B4-BE49-F238E27FC236}">
                <a16:creationId xmlns:a16="http://schemas.microsoft.com/office/drawing/2014/main" id="{058443E2-60F5-47CC-AA7A-69B0577FC9FF}"/>
              </a:ext>
            </a:extLst>
          </p:cNvPr>
          <p:cNvSpPr/>
          <p:nvPr/>
        </p:nvSpPr>
        <p:spPr>
          <a:xfrm>
            <a:off x="4282440" y="4642335"/>
            <a:ext cx="3566160" cy="1282977"/>
          </a:xfrm>
          <a:prstGeom prst="roundRect">
            <a:avLst>
              <a:gd name="adj" fmla="val 1765"/>
            </a:avLst>
          </a:prstGeom>
          <a:solidFill>
            <a:srgbClr val="0F1B3D"/>
          </a:solidFill>
          <a:ln/>
        </p:spPr>
        <p:txBody>
          <a:bodyPr wrap="square" lIns="177800" tIns="177800" rIns="177800" bIns="17780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79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Win %  (TeamPerformance)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latin typeface="Arial Rounded MT Bold" panose="020F0704030504030204" pitchFamily="34" charset="0"/>
                <a:cs typeface="Courier New" panose="02070309020205020404" pitchFamily="49" charset="0"/>
              </a:rPr>
              <a:t>Home Win % = AVERAGE(TeamPerformance[home_win_percentage])</a:t>
            </a:r>
          </a:p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12" name="anim76">
            <a:extLst>
              <a:ext uri="{FF2B5EF4-FFF2-40B4-BE49-F238E27FC236}">
                <a16:creationId xmlns:a16="http://schemas.microsoft.com/office/drawing/2014/main" id="{1B36903F-0E15-4746-B278-2276FC855874}"/>
              </a:ext>
            </a:extLst>
          </p:cNvPr>
          <p:cNvSpPr/>
          <p:nvPr/>
        </p:nvSpPr>
        <p:spPr>
          <a:xfrm>
            <a:off x="8031480" y="4642335"/>
            <a:ext cx="3611880" cy="1282977"/>
          </a:xfrm>
          <a:prstGeom prst="roundRect">
            <a:avLst>
              <a:gd name="adj" fmla="val 1765"/>
            </a:avLst>
          </a:prstGeom>
          <a:solidFill>
            <a:srgbClr val="0F1B3D"/>
          </a:solidFill>
          <a:ln/>
        </p:spPr>
        <p:txBody>
          <a:bodyPr wrap="square" lIns="177800" tIns="177800" rIns="177800" bIns="17780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79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  (Winners &amp; Runners)</a:t>
            </a:r>
            <a:endParaRPr lang="en-US" sz="1300" dirty="0"/>
          </a:p>
          <a:p>
            <a:r>
              <a:rPr lang="en-US" sz="12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Champion = </a:t>
            </a:r>
          </a:p>
          <a:p>
            <a:r>
              <a:rPr lang="en-US" sz="12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SELECTEDVALUE('IPL Winners &amp; Runners List'[Winner])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78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images through URLs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pasted in Excel and displayed in the report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Cricket Performance Intelligence Dashboard</a:t>
            </a:r>
          </a:p>
        </p:txBody>
      </p:sp>
      <p:sp>
        <p:nvSpPr>
          <p:cNvPr id="5" name="anim79"/>
          <p:cNvSpPr/>
          <p:nvPr/>
        </p:nvSpPr>
        <p:spPr>
          <a:xfrm>
            <a:off x="548640" y="15544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0B1F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image link from Google</a:t>
            </a:r>
            <a:endParaRPr lang="en-US" sz="1300" dirty="0"/>
          </a:p>
        </p:txBody>
      </p:sp>
      <p:sp>
        <p:nvSpPr>
          <p:cNvPr id="6" name="anim80"/>
          <p:cNvSpPr/>
          <p:nvPr/>
        </p:nvSpPr>
        <p:spPr>
          <a:xfrm>
            <a:off x="2496312" y="1883664"/>
            <a:ext cx="256032" cy="256032"/>
          </a:xfrm>
          <a:prstGeom prst="rightArrow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7" name="anim81"/>
          <p:cNvSpPr/>
          <p:nvPr/>
        </p:nvSpPr>
        <p:spPr>
          <a:xfrm>
            <a:off x="2788920" y="15544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0B1F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in the Excel image column</a:t>
            </a:r>
            <a:endParaRPr lang="en-US" sz="1300" dirty="0"/>
          </a:p>
        </p:txBody>
      </p:sp>
      <p:sp>
        <p:nvSpPr>
          <p:cNvPr id="8" name="anim82"/>
          <p:cNvSpPr/>
          <p:nvPr/>
        </p:nvSpPr>
        <p:spPr>
          <a:xfrm>
            <a:off x="4736592" y="1883664"/>
            <a:ext cx="256032" cy="256032"/>
          </a:xfrm>
          <a:prstGeom prst="rightArrow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9" name="anim83"/>
          <p:cNvSpPr/>
          <p:nvPr/>
        </p:nvSpPr>
        <p:spPr>
          <a:xfrm>
            <a:off x="5029200" y="15544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0B1F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table into Power BI</a:t>
            </a:r>
            <a:endParaRPr lang="en-US" sz="1300" dirty="0"/>
          </a:p>
        </p:txBody>
      </p:sp>
      <p:sp>
        <p:nvSpPr>
          <p:cNvPr id="10" name="anim84"/>
          <p:cNvSpPr/>
          <p:nvPr/>
        </p:nvSpPr>
        <p:spPr>
          <a:xfrm>
            <a:off x="6976872" y="1883664"/>
            <a:ext cx="256032" cy="256032"/>
          </a:xfrm>
          <a:prstGeom prst="rightArrow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1" name="anim85"/>
          <p:cNvSpPr/>
          <p:nvPr/>
        </p:nvSpPr>
        <p:spPr>
          <a:xfrm>
            <a:off x="7269480" y="15544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7941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column as Image URL</a:t>
            </a:r>
            <a:endParaRPr lang="en-US" sz="1300" dirty="0"/>
          </a:p>
        </p:txBody>
      </p:sp>
      <p:sp>
        <p:nvSpPr>
          <p:cNvPr id="12" name="anim86"/>
          <p:cNvSpPr/>
          <p:nvPr/>
        </p:nvSpPr>
        <p:spPr>
          <a:xfrm>
            <a:off x="9217152" y="1883664"/>
            <a:ext cx="256032" cy="256032"/>
          </a:xfrm>
          <a:prstGeom prst="rightArrow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3" name="anim87"/>
          <p:cNvSpPr/>
          <p:nvPr/>
        </p:nvSpPr>
        <p:spPr>
          <a:xfrm>
            <a:off x="9509760" y="15544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0B1F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in Image visual</a:t>
            </a:r>
            <a:endParaRPr lang="en-US" sz="1300" dirty="0"/>
          </a:p>
        </p:txBody>
      </p:sp>
      <p:sp>
        <p:nvSpPr>
          <p:cNvPr id="16" name="anim90"/>
          <p:cNvSpPr/>
          <p:nvPr/>
        </p:nvSpPr>
        <p:spPr>
          <a:xfrm>
            <a:off x="548640" y="2834639"/>
            <a:ext cx="11109960" cy="3090673"/>
          </a:xfrm>
          <a:prstGeom prst="roundRect">
            <a:avLst>
              <a:gd name="adj" fmla="val 2740"/>
            </a:avLst>
          </a:prstGeom>
          <a:solidFill>
            <a:srgbClr val="E8ECF6"/>
          </a:solidFill>
          <a:ln w="19050">
            <a:solidFill>
              <a:srgbClr val="F7941D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20E60FF-67D3-45FD-A311-B2FC95106B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731519" y="3475473"/>
            <a:ext cx="5990853" cy="1809003"/>
          </a:xfrm>
          <a:prstGeom prst="rect">
            <a:avLst/>
          </a:prstGeom>
          <a:effectLst>
            <a:outerShdw blurRad="63500" dist="50800" dir="2700000" algn="tl" rotWithShape="0">
              <a:prstClr val="black">
                <a:alpha val="25000"/>
              </a:prstClr>
            </a:outerShdw>
            <a:softEdge rad="50800"/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D46AF80-6806-46E1-B25A-35681EFFE0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4739"/>
          <a:stretch/>
        </p:blipFill>
        <p:spPr>
          <a:xfrm>
            <a:off x="6905251" y="3063240"/>
            <a:ext cx="4502506" cy="2638793"/>
          </a:xfrm>
          <a:prstGeom prst="rect">
            <a:avLst/>
          </a:prstGeom>
          <a:effectLst>
            <a:outerShdw blurRad="63500" dist="38100" dir="2700000" algn="tl" rotWithShape="0">
              <a:prstClr val="black">
                <a:alpha val="24000"/>
              </a:prstClr>
            </a:outerShdw>
            <a:softEdge rad="38100"/>
          </a:effectLst>
        </p:spPr>
      </p:pic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91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and interactivity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Cricket Performance Intelligence Dashboard</a:t>
            </a:r>
          </a:p>
        </p:txBody>
      </p:sp>
      <p:sp>
        <p:nvSpPr>
          <p:cNvPr id="5" name="anim92"/>
          <p:cNvSpPr/>
          <p:nvPr/>
        </p:nvSpPr>
        <p:spPr>
          <a:xfrm>
            <a:off x="548640" y="15544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and canvas</a:t>
            </a:r>
            <a:endParaRPr lang="en-US" sz="18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Navy and White, 1920 x 1080 pages</a:t>
            </a:r>
            <a:endParaRPr lang="en-US" sz="1800" dirty="0"/>
          </a:p>
        </p:txBody>
      </p:sp>
      <p:sp>
        <p:nvSpPr>
          <p:cNvPr id="6" name="anim93"/>
          <p:cNvSpPr/>
          <p:nvPr/>
        </p:nvSpPr>
        <p:spPr>
          <a:xfrm>
            <a:off x="4297680" y="15544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Branding</a:t>
            </a:r>
            <a:endParaRPr lang="en-US" sz="18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banner and logo images</a:t>
            </a:r>
            <a:endParaRPr lang="en-US" sz="1800" dirty="0"/>
          </a:p>
        </p:txBody>
      </p:sp>
      <p:sp>
        <p:nvSpPr>
          <p:cNvPr id="7" name="anim94"/>
          <p:cNvSpPr/>
          <p:nvPr/>
        </p:nvSpPr>
        <p:spPr>
          <a:xfrm>
            <a:off x="8046720" y="15544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</a:t>
            </a:r>
            <a:endParaRPr lang="en-US" sz="18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panel with page navigator</a:t>
            </a:r>
            <a:endParaRPr lang="en-US" sz="1800" dirty="0"/>
          </a:p>
        </p:txBody>
      </p:sp>
      <p:sp>
        <p:nvSpPr>
          <p:cNvPr id="8" name="anim95"/>
          <p:cNvSpPr/>
          <p:nvPr/>
        </p:nvSpPr>
        <p:spPr>
          <a:xfrm>
            <a:off x="548640" y="39319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Slicers</a:t>
            </a:r>
            <a:endParaRPr lang="en-US" sz="18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Dropdown slicers for season, city, team, state</a:t>
            </a:r>
            <a:endParaRPr lang="en-US" sz="1800" dirty="0"/>
          </a:p>
        </p:txBody>
      </p:sp>
      <p:sp>
        <p:nvSpPr>
          <p:cNvPr id="9" name="anim96"/>
          <p:cNvSpPr/>
          <p:nvPr/>
        </p:nvSpPr>
        <p:spPr>
          <a:xfrm>
            <a:off x="4297680" y="39319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cards</a:t>
            </a:r>
            <a:endParaRPr lang="en-US" sz="18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numbers at the top of each page along with icons</a:t>
            </a:r>
            <a:endParaRPr lang="en-US" sz="1800" dirty="0"/>
          </a:p>
        </p:txBody>
      </p:sp>
      <p:sp>
        <p:nvSpPr>
          <p:cNvPr id="10" name="anim97"/>
          <p:cNvSpPr/>
          <p:nvPr/>
        </p:nvSpPr>
        <p:spPr>
          <a:xfrm>
            <a:off x="8046720" y="39319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buttons</a:t>
            </a:r>
            <a:endParaRPr lang="en-US" sz="18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5B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Bookmarks that clear all filters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98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 and next steps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Cricket Performance Intelligence Dashboard</a:t>
            </a:r>
          </a:p>
        </p:txBody>
      </p:sp>
      <p:sp>
        <p:nvSpPr>
          <p:cNvPr id="5" name="anim99"/>
          <p:cNvSpPr/>
          <p:nvPr/>
        </p:nvSpPr>
        <p:spPr>
          <a:xfrm>
            <a:off x="548640" y="1554480"/>
            <a:ext cx="54406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learned</a:t>
            </a:r>
            <a:endParaRPr lang="en-US" sz="1600" dirty="0"/>
          </a:p>
          <a:p>
            <a:pPr marL="342900" indent="-3429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modelling with a season dimension</a:t>
            </a:r>
            <a:endParaRPr lang="en-US" sz="1600" dirty="0"/>
          </a:p>
          <a:p>
            <a:pPr marL="342900" indent="-3429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DAX measures based on the data available and for suitable KPIs</a:t>
            </a:r>
            <a:endParaRPr lang="en-US" sz="1600" dirty="0"/>
          </a:p>
          <a:p>
            <a:pPr marL="342900" indent="-3429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multiple source files</a:t>
            </a:r>
            <a:endParaRPr lang="en-US" sz="1600" dirty="0"/>
          </a:p>
          <a:p>
            <a:pPr marL="342900" indent="-3429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 a consistent UI</a:t>
            </a:r>
          </a:p>
          <a:p>
            <a:pPr marL="342900" indent="-3429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540"/>
                </a:solidFill>
                <a:latin typeface="Arial" pitchFamily="34" charset="0"/>
                <a:cs typeface="Arial" pitchFamily="34" charset="-120"/>
              </a:rPr>
              <a:t>Page duplication with applied filters, costs a huge time.</a:t>
            </a:r>
            <a:endParaRPr lang="en-US" sz="1600" dirty="0"/>
          </a:p>
        </p:txBody>
      </p:sp>
      <p:sp>
        <p:nvSpPr>
          <p:cNvPr id="6" name="anim100"/>
          <p:cNvSpPr/>
          <p:nvPr/>
        </p:nvSpPr>
        <p:spPr>
          <a:xfrm>
            <a:off x="6217920" y="1554480"/>
            <a:ext cx="54406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600" dirty="0"/>
          </a:p>
          <a:p>
            <a:pPr marL="342900" indent="-3429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images online/drive</a:t>
            </a:r>
            <a:endParaRPr lang="en-US" sz="1600" dirty="0"/>
          </a:p>
          <a:p>
            <a:pPr marL="342900" indent="-3429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upload option to load data for upcoming seasons.</a:t>
            </a:r>
          </a:p>
          <a:p>
            <a:pPr marL="342900" indent="-3429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the ball-by-ball data, to cherish Individual player analytics.</a:t>
            </a:r>
            <a:endParaRPr lang="en-US" sz="1600" dirty="0"/>
          </a:p>
          <a:p>
            <a:pPr marL="342900" indent="-342900" algn="l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to Power BI Service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101"/>
          <p:cNvSpPr txBox="1"/>
          <p:nvPr/>
        </p:nvSpPr>
        <p:spPr>
          <a:xfrm>
            <a:off x="731520" y="18288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anim102"/>
          <p:cNvSpPr txBox="1"/>
          <p:nvPr/>
        </p:nvSpPr>
        <p:spPr>
          <a:xfrm>
            <a:off x="731520" y="32004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9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SHIVABALAJI K R</a:t>
            </a:r>
            <a:br>
              <a:rPr lang="en-US" sz="2400" b="1" dirty="0">
                <a:solidFill>
                  <a:srgbClr val="F79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2400" b="1" dirty="0">
              <a:solidFill>
                <a:srgbClr val="F7941D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and feedback welcome</a:t>
            </a:r>
            <a:endParaRPr lang="en-US" sz="2400" dirty="0"/>
          </a:p>
        </p:txBody>
      </p:sp>
      <p:sp>
        <p:nvSpPr>
          <p:cNvPr id="4" name="anim103"/>
          <p:cNvSpPr>
            <a:spLocks/>
          </p:cNvSpPr>
          <p:nvPr/>
        </p:nvSpPr>
        <p:spPr>
          <a:xfrm>
            <a:off x="8778240" y="1828800"/>
            <a:ext cx="2651760" cy="2651760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 w="38100">
            <a:solidFill>
              <a:srgbClr val="F7941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2572</TotalTime>
  <Words>1120</Words>
  <Application>Microsoft Office PowerPoint</Application>
  <PresentationFormat>Widescreen</PresentationFormat>
  <Paragraphs>227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Arial Rounded MT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IPL Performance Dashboard</dc:title>
  <dc:subject>PptxGenJS Presentation</dc:subject>
  <dc:creator>PptxGenJS</dc:creator>
  <cp:lastModifiedBy>Shivabalaji K R</cp:lastModifiedBy>
  <cp:revision>8</cp:revision>
  <dcterms:created xsi:type="dcterms:W3CDTF">2026-09-28T20:27:55Z</dcterms:created>
  <dcterms:modified xsi:type="dcterms:W3CDTF">2026-09-30T20:25:22Z</dcterms:modified>
</cp:coreProperties>
</file>